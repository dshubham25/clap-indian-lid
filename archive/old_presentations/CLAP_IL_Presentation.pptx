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Indian Language Identification using Audio Foundation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Zero-Shot, Prompt Learning, and Cross-Domain Generalization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1. Zero-Shot CLAP (Baseline)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Base CLAP (HTSAT Audio Encoder + RoBERTa Text Encoder).</a:t>
            </a:r>
          </a:p>
          <a:p>
            <a:pPr>
              <a:defRPr sz="1800"/>
            </a:pPr>
            <a:r>
              <a:t>Modification from CLAP: None. This is the exact pre-trained architecture.</a:t>
            </a:r>
          </a:p>
          <a:p>
            <a:pPr>
              <a:defRPr sz="1800"/>
            </a:pPr>
            <a:r>
              <a:t>How it works: Uses a static, hard-coded text prompt ('A person speaking in {language}').</a:t>
            </a:r>
          </a:p>
          <a:p>
            <a:pPr>
              <a:defRPr sz="1800"/>
            </a:pPr>
            <a:r>
              <a:t>In-Domain Accuracy (Ekstep): ~75-80%</a:t>
            </a:r>
          </a:p>
          <a:p>
            <a:pPr>
              <a:defRPr sz="1800"/>
            </a:pPr>
            <a:r>
              <a:t>Cross-Domain Accuracy (IITMandi): Severely degraded.</a:t>
            </a:r>
          </a:p>
          <a:p>
            <a:pPr>
              <a:defRPr sz="1800"/>
            </a:pPr>
            <a:r>
              <a:t>Conclusion: Strong baseline but rigid prompt structure limits adaptation.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2. CoOp (Context 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Continuous Prompt Learning.</a:t>
            </a:r>
          </a:p>
          <a:p>
            <a:pPr>
              <a:defRPr sz="1800"/>
            </a:pPr>
            <a:r>
              <a:t>Modification from CLAP: The discrete English words in the text prompt are replaced by learnable continuous vectors (V1, V2, ...).</a:t>
            </a:r>
          </a:p>
          <a:p>
            <a:pPr>
              <a:defRPr sz="1800"/>
            </a:pPr>
            <a:r>
              <a:t>How it works: The Audio and Text encoders are 100% frozen. Only the continuous prompt vectors are trained via backpropagation on the Ekstep dataset.</a:t>
            </a:r>
          </a:p>
          <a:p>
            <a:pPr>
              <a:defRPr sz="1800"/>
            </a:pPr>
            <a:r>
              <a:t>In-Domain Accuracy (Ekstep): 53.17%</a:t>
            </a:r>
          </a:p>
          <a:p>
            <a:pPr>
              <a:defRPr sz="1800"/>
            </a:pPr>
            <a:r>
              <a:t>Cross-Domain Accuracy (IITMandi): 28.40%</a:t>
            </a:r>
          </a:p>
          <a:p>
            <a:pPr>
              <a:defRPr sz="1800"/>
            </a:pPr>
            <a:r>
              <a:t>Conclusion: Static learned vectors easily overfit to the training domain's specific acoustic signature.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3. CoCoOp (Conditional Context 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Dynamic Audio-Conditioned Prompting.</a:t>
            </a:r>
          </a:p>
          <a:p>
            <a:pPr>
              <a:defRPr sz="1800"/>
            </a:pPr>
            <a:r>
              <a:t>Modification from CLAP: Introduces a lightweight neural 'Meta-Net'.</a:t>
            </a:r>
          </a:p>
          <a:p>
            <a:pPr>
              <a:defRPr sz="1800"/>
            </a:pPr>
            <a:r>
              <a:t>How it works: The Meta-Net takes the specific Audio Embedding as input and generates a dynamic bias vector, which is added to the CoOp text tokens. The prompt adapts to every single audio clip.</a:t>
            </a:r>
          </a:p>
          <a:p>
            <a:pPr>
              <a:defRPr sz="1800"/>
            </a:pPr>
            <a:r>
              <a:t>In-Domain Accuracy (Ekstep): 89.58%</a:t>
            </a:r>
          </a:p>
          <a:p>
            <a:pPr>
              <a:defRPr sz="1800"/>
            </a:pPr>
            <a:r>
              <a:t>Cross-Domain Accuracy (IITMandi): 24.75%</a:t>
            </a:r>
          </a:p>
          <a:p>
            <a:pPr>
              <a:defRPr sz="1800"/>
            </a:pPr>
            <a:r>
              <a:t>Conclusion: Incredibly powerful for in-domain data, but suffers from Catastrophic Domain Overfitting when faced with background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4. PALM (Prompt Alignment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Joint Space Alignment.</a:t>
            </a:r>
          </a:p>
          <a:p>
            <a:pPr>
              <a:defRPr sz="1800"/>
            </a:pPr>
            <a:r>
              <a:t>Modification from CLAP: Adds an adapter layer to the text encoder to force alignment between the audio and text spaces.</a:t>
            </a:r>
          </a:p>
          <a:p>
            <a:pPr>
              <a:defRPr sz="1800"/>
            </a:pPr>
            <a:r>
              <a:t>How it works: Uses few-shot prompt learning combined with a cross-modal alignment objective to bridge the modality gap.</a:t>
            </a:r>
          </a:p>
          <a:p>
            <a:pPr>
              <a:defRPr sz="1800"/>
            </a:pPr>
            <a:r>
              <a:t>In-Domain Accuracy (Ekstep): 76.05%</a:t>
            </a:r>
          </a:p>
          <a:p>
            <a:pPr>
              <a:defRPr sz="1800"/>
            </a:pPr>
            <a:r>
              <a:t>Cross-Domain Accuracy (IITMandi): 25.66%</a:t>
            </a:r>
          </a:p>
          <a:p>
            <a:pPr>
              <a:defRPr sz="1800"/>
            </a:pPr>
            <a:r>
              <a:t>Conclusion: Better than base CoOp, but still succumbs to cross-domain acoustic shift.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5. Supervised Acoustic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Pure Acoustic Encoders (Whisper, WaveLM, Wav2Vec2, DistilHuBERT).</a:t>
            </a:r>
          </a:p>
          <a:p>
            <a:pPr>
              <a:defRPr sz="1800"/>
            </a:pPr>
            <a:r>
              <a:t>Modification from CLAP: Completely discards the Text Encoder and contrastive learning. Replaces it with a Supervised Logistic Regression Probe on top of frozen audio features.</a:t>
            </a:r>
          </a:p>
          <a:p>
            <a:pPr>
              <a:defRPr sz="1800"/>
            </a:pPr>
            <a:r>
              <a:t>Whisper (In-Domain -&gt; Cross-Domain): 95.76% -&gt; 82.77%</a:t>
            </a:r>
          </a:p>
          <a:p>
            <a:pPr>
              <a:defRPr sz="1800"/>
            </a:pPr>
            <a:r>
              <a:t>WaveLM (In-Domain -&gt; Cross-Domain): 95.32% -&gt; 80.81%</a:t>
            </a:r>
          </a:p>
          <a:p>
            <a:pPr>
              <a:defRPr sz="1800"/>
            </a:pPr>
            <a:r>
              <a:t>Wav2Vec2 (In-Domain -&gt; Cross-Domain): 92.91% -&gt; 52.10%</a:t>
            </a:r>
          </a:p>
          <a:p>
            <a:pPr>
              <a:defRPr sz="1800"/>
            </a:pPr>
            <a:r>
              <a:t>Conclusion: Massive pre-trained acoustic models retain highly robust features across domain shifts, proving the vulnerability lies in CLAP's Audio-Text alignment mechanism.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6. XAI Interpretability: Text Prompt (LIME)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Objective: Why did the Text Prompts fail in cross-domain?</a:t>
            </a:r>
          </a:p>
          <a:p>
            <a:pPr>
              <a:defRPr sz="1800"/>
            </a:pPr>
            <a:r>
              <a:t>Method: Applied LIME feature attribution to the Zero-Shot text prompt.</a:t>
            </a:r>
          </a:p>
          <a:p>
            <a:pPr>
              <a:defRPr sz="1800"/>
            </a:pPr>
            <a:r>
              <a:t>Results (Weights): 'Marathi' (+0.0044), 'speaking' (+0.0007), 'person' (-0.0015).</a:t>
            </a:r>
          </a:p>
          <a:p>
            <a:pPr>
              <a:defRPr sz="1800"/>
            </a:pPr>
            <a:r>
              <a:t>Analysis: The text encoder is working perfectly. It applies maximum positive weight to the actual class label (Marathi) and ignores grammatical fluff.</a:t>
            </a:r>
          </a:p>
          <a:p>
            <a:pPr>
              <a:defRPr sz="1800"/>
            </a:pPr>
            <a:r>
              <a:t>Conclusion: The failure is NOT a text-understanding issue.</a:t>
            </a:r>
          </a:p>
        </p:txBody>
      </p:sp>
      <p:pic>
        <p:nvPicPr>
          <p:cNvPr id="4" name="Picture 3" descr="lim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623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7. XAI Interpretability: Acoustic Shift (t-SNE)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sz="1800"/>
            </a:pPr>
            <a:r>
              <a:t>Objective: Visualizing the latent space alignment.</a:t>
            </a:r>
          </a:p>
          <a:p>
            <a:pPr>
              <a:defRPr sz="1800"/>
            </a:pPr>
            <a:r>
              <a:t>Method: t-SNE plot of Ekstep Audio (Blue), YouTube Audio (Red), and Text Prompts (Black).</a:t>
            </a:r>
          </a:p>
          <a:p>
            <a:pPr>
              <a:defRPr sz="1800"/>
            </a:pPr>
            <a:r>
              <a:t>Analysis: During training, CoOp/CoCoOp learned prompt vectors that anchor directly to the In-Domain (Ekstep) audio clusters.</a:t>
            </a:r>
          </a:p>
          <a:p>
            <a:pPr>
              <a:defRPr sz="1800"/>
            </a:pPr>
            <a:r>
              <a:t>The Failure: When tested on YouTube data, the acoustic background noise physically shifted the audio embeddings to a completely different region of the latent space.</a:t>
            </a:r>
          </a:p>
          <a:p>
            <a:pPr>
              <a:defRPr sz="1800"/>
            </a:pPr>
            <a:r>
              <a:t>Final Conclusion: The rigid text prompts were left stranded in the latent space, misaligned from the new noisy audio data.</a:t>
            </a:r>
          </a:p>
        </p:txBody>
      </p:sp>
      <p:pic>
        <p:nvPicPr>
          <p:cNvPr id="4" name="Picture 3" descr="tsne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